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сделали Astana Walk — помощника, который за один запрос говорит, куда сходить рядом и успеете ли 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Астане тысячи мест, но каталог не отвечает на главный вопрос: успею ли я дойти, посмотреть и не опоздать, пока место открыто. Человек с часом свободного времени листает карточки и сдаётся.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Наши пользователи — жители, туристы, в том числе перед вылетом, родители с детьми, компании и маломобильные люди. Успех для нас — каждое место укладывается в бюджет времени и у каждого факта есть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пример прямо из ТЗ. Старт EXPO система взяла из текста, «один-два часа» превратила в 120 минут. Блок «Учтено» показывает, на каких данных построен ответ. Три культурных места в 3–19 минутах пешком, у каждого время на месте и статус часов.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Стретч-цель из ТЗ — мини-маршрут. Backend перебирает порядок обхода по пешеходному графу, проверяет часы на момент прихода к каждой остановке и укладывает всё в бюджет. В маршруте есть и кафе, и музей — оба вида из запроса.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Турист перед вылетом. Система вычитает 30 минут на дорогу и 60 на аэропорт, честно говорит, что это допущение, и предлагает указать свои значения. На прогулку остаётся 30 минут — и места подобраны под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Карточка кафе. Тишина подтверждена отзывами 2ГИС, а розетка упомянута один раз — и так и помечена: «не подтверждено». Часы — «по расписанию», а не «открыто сейчас». Видно, на чём основано объяснение.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Каталог даёт список без учёта времени. Обычный чат-бот на LLM уверенно придумывает. Мы считаем путь по графу, проверяем часы на момент прихода, а модель выбирает только из найденных мест.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слоёв. Интерфейс — карта, список и чат. Ключевой компонент — RAG-оркестратор на FastAPI: он разбирает запрос, ищет, проверяет и собирает контекст. Gemini только выбирает и объясняет. Под ним база мест, отзывы, афиша и пешеходный граф.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шагов. Разбираем запрос без модели. Находим кандидатов поиском TF-IDF с признаками из отзывов. Отсекаем закрытые места и то, что не влезает в бюджет по графу. Gemini получает до девяти кандидатов и выбирает один–три ID. Чужой ID или битый JSON отклоняется. Цены, часы и минуты в карточку пишет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Чтобы ответить про тишину или розетки, мы собрали 185 тысяч отзывов 2ГИС без данных авторов. Регулярка отобрала 10 602 отзыва про нужные свойства. Gemini классифицирует упоминание и возвращает дословную цитату; если цитаты нет в отзыве, утверждение выбрасывается. Итог — признаки для 2 100 мест.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Датасет мы собрали сами и автоматизировали: 2ГИС API, OpenStreetMap, Visit Astana, афиша. После слияния дублей — 7 431 место. Пешеходный граф — 166 тысяч узлов. Повторный сбор и извлечение признаков запускаются одной командой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Приватность: аккаунтов нет, координаты не храним, геолокация только по кнопке, в Gemini уходят текст и карточки, но не координаты. Честность: «открыто» звучит только как «по расписанию», текст модели помечен. Сомнительные данные: 185 отметок о закрытии исключают места, анонсы помечены как неподтверждённые.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пять сценариев из ТЗ и пример с Экспо мы прогнали на текущей версии. Ниже — что получилось. 66 автотестов backend зелёные, плюс браузерные тесты и проверка доступности. Полный список из 14 сценариев — в документе TEST_SCENARIOS.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Жителю и туристу — меньше времени на выбор и никаких опозданий к закрытию. Городу — живой канал продвижения городских мест и событий и обезличенная картина спроса. Бизнесу — посетители, которые уже рядом и у которых есть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источника дохода — это гипотезы, а не выручка. Лицензия или пилот для городского портала и Visit Astana. Виджет и API для отелей, аэропорта и торговых центров. Партнёрская комиссия с билетов на события. Принцип: платное размещение не меняет ранжирование и всегда помечено.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Главные риски. Данные стареют — это снимок от 19 октября, поэтому мы пишем «по расписанию». Gemini может быть недоступен — есть офлайн-режим. Права на данные 2ГИС — нужен договор или официальный API. Релевантность мы пока не мерили на размеченной выборке. И мы не обещаем доступность и безопасность маршрута.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 — рабочий прототип в Docker. Следующий месяц — оценка качества на размеченных запросах и регулярное обновление данных. Через квартал — пилот с городом и Visit Astana. Дальше — транспорт, проверенные входы и доступность.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в репозитории: код, датасет, сценарии и инструкция запуска.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Слайды для ответов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слайд: что происходит внутри одного запроса.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про стек.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слайд: чего нет в данных и как мы это показываем.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h-cover-256382a2d7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86868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FF5DA"/>
                </a:solidFill>
                <a:latin typeface="IBM Plex Mono"/>
              </a:rPr>
              <a:t>BUILD WITH AI · ТРЕК НИЦ SMART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11535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100" b="1">
                <a:solidFill>
                  <a:srgbClr val="EAF6FF"/>
                </a:solidFill>
                <a:latin typeface="Manrope"/>
              </a:rPr>
              <a:t>Astana Walk: куда успеть за 30 минут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9DB4C8"/>
                </a:solidFill>
                <a:latin typeface="Inter"/>
              </a:rPr>
              <a:t>RAG-помощник по прогулкам: Gemini + 7 431 место + пешеходный граф OSM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77840"/>
            <a:ext cx="1455420" cy="32918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455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AF6FF"/>
                </a:solidFill>
                <a:latin typeface="IBM Plex Mono"/>
              </a:rPr>
              <a:t>Astana Walk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78380" y="5577840"/>
            <a:ext cx="1356360" cy="329184"/>
          </a:xfrm>
          <a:prstGeom prst="roundRect">
            <a:avLst>
              <a:gd name="adj" fmla="val 50000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78380" y="5577840"/>
            <a:ext cx="1356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AF6FF"/>
                </a:solidFill>
                <a:latin typeface="IBM Plex Mono"/>
              </a:rPr>
              <a:t>21.10.2026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DB4C8"/>
                </a:solidFill>
                <a:latin typeface="IBM Plex Mono"/>
              </a:rPr>
              <a:t>КАТАЛОГ НЕ ОТВЕЧАЕТ НА ГЛАВНЫЙ ВОПРОС: УСПЕЮ ЛИ 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822960" cy="64008"/>
          </a:xfrm>
          <a:prstGeom prst="rect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EAF6FF"/>
                </a:solidFill>
                <a:latin typeface="Inter"/>
              </a:rPr>
              <a:t>В нашей базе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11535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0FF5DA"/>
                </a:solidFill>
                <a:latin typeface="Manrope"/>
              </a:rPr>
              <a:t>7 431 место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>
                <a:solidFill>
                  <a:srgbClr val="EAF6FF"/>
                </a:solidFill>
                <a:latin typeface="Inter"/>
              </a:rPr>
              <a:t>— но ни один каталог не скажет, успеете ли вы дойти и посетить его до закрытия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DB4C8"/>
                </a:solidFill>
                <a:latin typeface="IBM Plex Mono"/>
              </a:rPr>
              <a:t>ЗАДАЧА, КОТОРУЮ МЫ РЕШАЕМ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64008"/>
          </a:xfrm>
          <a:prstGeom prst="rect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EAF6FF"/>
                </a:solidFill>
                <a:latin typeface="Manrope"/>
              </a:rPr>
              <a:t>Как за один запрос дать 1–3 места, до которых реально успеть, и честно объяснить почему?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4023359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3454298" cy="64008"/>
          </a:xfrm>
          <a:prstGeom prst="rect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9DB4C8"/>
                </a:solidFill>
                <a:latin typeface="IBM Plex Mono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29056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Жители и туристы (в т.ч. до вылета), родители, компании 3–5 человек, маломобильные люди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6130" y="4023359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68698" y="3977639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68698" y="3977639"/>
            <a:ext cx="3454298" cy="64008"/>
          </a:xfrm>
          <a:prstGeom prst="rect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43018" y="416052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9DB4C8"/>
                </a:solidFill>
                <a:latin typeface="IBM Plex Mono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4480560"/>
            <a:ext cx="29056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Только пешком, ограниченное время, часы работы, неполные данные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4748" y="4023359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97316" y="3977639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97316" y="3977639"/>
            <a:ext cx="3454298" cy="64008"/>
          </a:xfrm>
          <a:prstGeom prst="rect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71636" y="416052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9DB4C8"/>
                </a:solidFill>
                <a:latin typeface="IBM Plex Mono"/>
              </a:rPr>
              <a:t>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1636" y="4480560"/>
            <a:ext cx="29056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1–3 места в бюджете времени, «почему» и «что делать», источник у каждого факта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Пример из ТЗ: «Я у Экспо 2017, хочу необычное на 1–2 часа»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6821424" cy="365760"/>
          </a:xfrm>
          <a:prstGeom prst="rect">
            <a:avLst/>
          </a:prstGeom>
          <a:solidFill>
            <a:srgbClr val="07121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41247" y="2039112"/>
            <a:ext cx="137160" cy="137160"/>
          </a:xfrm>
          <a:prstGeom prst="ellipse">
            <a:avLst/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97280" y="2039112"/>
            <a:ext cx="137160" cy="137160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53312" y="2039112"/>
            <a:ext cx="137160" cy="1371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emo_expo_considere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13" y="2377440"/>
            <a:ext cx="4628733" cy="33649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991856" y="219913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91856" y="21991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Старт «EXPO 2017» — из текста</a:t>
            </a:r>
          </a:p>
        </p:txBody>
      </p:sp>
      <p:sp>
        <p:nvSpPr>
          <p:cNvPr id="14" name="Oval 13"/>
          <p:cNvSpPr/>
          <p:nvPr/>
        </p:nvSpPr>
        <p:spPr>
          <a:xfrm>
            <a:off x="7991856" y="315925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91856" y="31592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7180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«1–2 часа» → 120 мин, блок «Учтено»</a:t>
            </a:r>
          </a:p>
        </p:txBody>
      </p:sp>
      <p:sp>
        <p:nvSpPr>
          <p:cNvPr id="17" name="Oval 16"/>
          <p:cNvSpPr/>
          <p:nvPr/>
        </p:nvSpPr>
        <p:spPr>
          <a:xfrm>
            <a:off x="7991856" y="411937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91856" y="411937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3192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3 места в 3–19 мин пешком</a:t>
            </a:r>
          </a:p>
        </p:txBody>
      </p:sp>
      <p:sp>
        <p:nvSpPr>
          <p:cNvPr id="20" name="Oval 19"/>
          <p:cNvSpPr/>
          <p:nvPr/>
        </p:nvSpPr>
        <p:spPr>
          <a:xfrm>
            <a:off x="7991856" y="507949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91856" y="50794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9204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«Почему» и «что делать» у каждого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Мини-маршрут: «музей и кофе за 2 часа» — 3 остановки за 72 минуты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6821424" cy="365760"/>
          </a:xfrm>
          <a:prstGeom prst="rect">
            <a:avLst/>
          </a:prstGeom>
          <a:solidFill>
            <a:srgbClr val="07121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41247" y="2039112"/>
            <a:ext cx="137160" cy="137160"/>
          </a:xfrm>
          <a:prstGeom prst="ellipse">
            <a:avLst/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97280" y="2039112"/>
            <a:ext cx="137160" cy="137160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53312" y="2039112"/>
            <a:ext cx="137160" cy="1371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emo_minirout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13" y="2377440"/>
            <a:ext cx="4628733" cy="33649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991856" y="219913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91856" y="21991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Порядок обхода по графу OSM</a:t>
            </a:r>
          </a:p>
        </p:txBody>
      </p:sp>
      <p:sp>
        <p:nvSpPr>
          <p:cNvPr id="14" name="Oval 13"/>
          <p:cNvSpPr/>
          <p:nvPr/>
        </p:nvSpPr>
        <p:spPr>
          <a:xfrm>
            <a:off x="7991856" y="315925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91856" y="31592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7180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«через 5 мин · 5 мин пути · 15 на месте»</a:t>
            </a:r>
          </a:p>
        </p:txBody>
      </p:sp>
      <p:sp>
        <p:nvSpPr>
          <p:cNvPr id="17" name="Oval 16"/>
          <p:cNvSpPr/>
          <p:nvPr/>
        </p:nvSpPr>
        <p:spPr>
          <a:xfrm>
            <a:off x="7991856" y="411937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91856" y="411937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3192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Часы проверены к приходу в каждую точку</a:t>
            </a:r>
          </a:p>
        </p:txBody>
      </p:sp>
      <p:sp>
        <p:nvSpPr>
          <p:cNvPr id="20" name="Oval 19"/>
          <p:cNvSpPr/>
          <p:nvPr/>
        </p:nvSpPr>
        <p:spPr>
          <a:xfrm>
            <a:off x="7991856" y="507949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91856" y="50794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9204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Кафе + музей из запроса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«2 часа до вылета»: система сама оставляет 90 минут на дорогу и аэропорт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6821424" cy="365760"/>
          </a:xfrm>
          <a:prstGeom prst="rect">
            <a:avLst/>
          </a:prstGeom>
          <a:solidFill>
            <a:srgbClr val="07121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41247" y="2039112"/>
            <a:ext cx="137160" cy="137160"/>
          </a:xfrm>
          <a:prstGeom prst="ellipse">
            <a:avLst/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97280" y="2039112"/>
            <a:ext cx="137160" cy="137160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53312" y="2039112"/>
            <a:ext cx="137160" cy="1371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emo_fligh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13" y="2377440"/>
            <a:ext cx="4628733" cy="33649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991856" y="219913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91856" y="21991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120 мин − 30 дорога − 60 аэропорт = 30</a:t>
            </a:r>
          </a:p>
        </p:txBody>
      </p:sp>
      <p:sp>
        <p:nvSpPr>
          <p:cNvPr id="14" name="Oval 13"/>
          <p:cNvSpPr/>
          <p:nvPr/>
        </p:nvSpPr>
        <p:spPr>
          <a:xfrm>
            <a:off x="7991856" y="315925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91856" y="31592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7180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Допущение названо, его можно изменить</a:t>
            </a:r>
          </a:p>
        </p:txBody>
      </p:sp>
      <p:sp>
        <p:nvSpPr>
          <p:cNvPr id="17" name="Oval 16"/>
          <p:cNvSpPr/>
          <p:nvPr/>
        </p:nvSpPr>
        <p:spPr>
          <a:xfrm>
            <a:off x="7991856" y="411937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91856" y="411937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3192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Визит сокращён, чтобы успеть</a:t>
            </a:r>
          </a:p>
        </p:txBody>
      </p:sp>
      <p:sp>
        <p:nvSpPr>
          <p:cNvPr id="20" name="Oval 19"/>
          <p:cNvSpPr/>
          <p:nvPr/>
        </p:nvSpPr>
        <p:spPr>
          <a:xfrm>
            <a:off x="7991856" y="507949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91856" y="50794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9204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Без резервов прогулка не предлагается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«Тихое кафе с розеткой»: слабое свидетельство не выдаётся за факт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858000" cy="3931920"/>
          </a:xfrm>
          <a:prstGeom prst="roundRect">
            <a:avLst>
              <a:gd name="adj" fmla="val 4186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6821424" cy="365760"/>
          </a:xfrm>
          <a:prstGeom prst="rect">
            <a:avLst/>
          </a:prstGeom>
          <a:solidFill>
            <a:srgbClr val="07121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41247" y="2039112"/>
            <a:ext cx="137160" cy="137160"/>
          </a:xfrm>
          <a:prstGeom prst="ellipse">
            <a:avLst/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97280" y="2039112"/>
            <a:ext cx="137160" cy="137160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53312" y="2039112"/>
            <a:ext cx="137160" cy="1371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emo_cafe_car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13" y="2377440"/>
            <a:ext cx="4628733" cy="33649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991856" y="219913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91856" y="21991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«Почему» с основанием: данные, отзывы, путь</a:t>
            </a:r>
          </a:p>
        </p:txBody>
      </p:sp>
      <p:sp>
        <p:nvSpPr>
          <p:cNvPr id="14" name="Oval 13"/>
          <p:cNvSpPr/>
          <p:nvPr/>
        </p:nvSpPr>
        <p:spPr>
          <a:xfrm>
            <a:off x="7991856" y="315925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91856" y="31592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7180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Розетка: одно упоминание — «не подтверждено»</a:t>
            </a:r>
          </a:p>
        </p:txBody>
      </p:sp>
      <p:sp>
        <p:nvSpPr>
          <p:cNvPr id="17" name="Oval 16"/>
          <p:cNvSpPr/>
          <p:nvPr/>
        </p:nvSpPr>
        <p:spPr>
          <a:xfrm>
            <a:off x="7991856" y="411937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91856" y="411937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3192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«Открыто по расписанию», не «сейчас»</a:t>
            </a:r>
          </a:p>
        </p:txBody>
      </p:sp>
      <p:sp>
        <p:nvSpPr>
          <p:cNvPr id="20" name="Oval 19"/>
          <p:cNvSpPr/>
          <p:nvPr/>
        </p:nvSpPr>
        <p:spPr>
          <a:xfrm>
            <a:off x="7991856" y="5079492"/>
            <a:ext cx="475488" cy="475488"/>
          </a:xfrm>
          <a:prstGeom prst="ellipse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91856" y="50794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92040"/>
            <a:ext cx="2864815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Нет данных — так и написано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Чем мы отличаемся от каталога и обычного чат-бота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3017520" cy="655320"/>
          </a:xfrm>
          <a:prstGeom prst="rect">
            <a:avLst/>
          </a:prstGeom>
          <a:solidFill>
            <a:srgbClr val="4DFFB2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2743200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0000"/>
                </a:solidFill>
                <a:latin typeface="Inter"/>
              </a:rPr>
              <a:t>Что важно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920240"/>
            <a:ext cx="2631338" cy="655320"/>
          </a:xfrm>
          <a:prstGeom prst="rect">
            <a:avLst/>
          </a:prstGeom>
          <a:solidFill>
            <a:srgbClr val="4DFFB2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794760" y="192024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00000"/>
                </a:solidFill>
                <a:latin typeface="Inter"/>
              </a:rPr>
              <a:t>Каталог карт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8938" y="1920240"/>
            <a:ext cx="2631338" cy="655320"/>
          </a:xfrm>
          <a:prstGeom prst="rect">
            <a:avLst/>
          </a:prstGeom>
          <a:solidFill>
            <a:srgbClr val="4DFFB2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26098" y="192024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00000"/>
                </a:solidFill>
                <a:latin typeface="Inter"/>
              </a:rPr>
              <a:t>LLM-чат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0276" y="1920240"/>
            <a:ext cx="2631338" cy="655320"/>
          </a:xfrm>
          <a:prstGeom prst="rect">
            <a:avLst/>
          </a:prstGeom>
          <a:solidFill>
            <a:srgbClr val="4DFFB2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7436" y="192024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00000"/>
                </a:solidFill>
                <a:latin typeface="Inter"/>
              </a:rPr>
              <a:t>Astana Walk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75560"/>
            <a:ext cx="3017520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575560"/>
            <a:ext cx="2743200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Время пути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57556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4760" y="257556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по прямой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8938" y="257556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26098" y="257556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выдумывает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0276" y="257556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7436" y="257556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FF5DA"/>
                </a:solidFill>
                <a:latin typeface="Inter"/>
              </a:rPr>
              <a:t>граф OSM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30880"/>
            <a:ext cx="3017520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3230880"/>
            <a:ext cx="2743200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Часы на момент прихода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230880"/>
            <a:ext cx="2631338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94760" y="323088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нет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8938" y="3230880"/>
            <a:ext cx="2631338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6098" y="323088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нет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0276" y="3230880"/>
            <a:ext cx="2631338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7436" y="323088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FF5DA"/>
                </a:solidFill>
                <a:latin typeface="Inter"/>
              </a:rPr>
              <a:t>проверяет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86200"/>
            <a:ext cx="3017520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3886200"/>
            <a:ext cx="2743200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Объяснение «почему»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88620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94760" y="388620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нет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8938" y="388620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26098" y="388620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да, без источника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20276" y="388620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57436" y="388620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FF5DA"/>
                </a:solidFill>
                <a:latin typeface="Inter"/>
              </a:rPr>
              <a:t>да, с источником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541520"/>
            <a:ext cx="3017520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4541520"/>
            <a:ext cx="2743200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Выдуманные места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4541520"/>
            <a:ext cx="2631338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794760" y="454152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нет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8938" y="4541520"/>
            <a:ext cx="2631338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26098" y="454152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бывают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0276" y="4541520"/>
            <a:ext cx="2631338" cy="655320"/>
          </a:xfrm>
          <a:prstGeom prst="rect">
            <a:avLst/>
          </a:prstGeom>
          <a:solidFill>
            <a:srgbClr val="07121F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7436" y="454152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FF5DA"/>
                </a:solidFill>
                <a:latin typeface="Inter"/>
              </a:rPr>
              <a:t>отклоняются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196840"/>
            <a:ext cx="3017520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5196840"/>
            <a:ext cx="2743200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Маршрут из 3 мест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519684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94760" y="519684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нет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8938" y="519684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26098" y="519684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EAF6FF"/>
                </a:solidFill>
                <a:latin typeface="Inter"/>
              </a:rPr>
              <a:t>без проверки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20276" y="5196840"/>
            <a:ext cx="2631338" cy="655320"/>
          </a:xfrm>
          <a:prstGeom prst="rect">
            <a:avLst/>
          </a:prstGeom>
          <a:solidFill>
            <a:srgbClr val="0F2236"/>
          </a:solidFill>
          <a:ln w="9525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057436" y="5196840"/>
            <a:ext cx="2357018" cy="655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0FF5DA"/>
                </a:solidFill>
                <a:latin typeface="Inter"/>
              </a:rPr>
              <a:t>в бюджете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20276" y="1920240"/>
            <a:ext cx="2631338" cy="3931920"/>
          </a:xfrm>
          <a:prstGeom prst="rect">
            <a:avLst/>
          </a:prstGeom>
          <a:noFill/>
          <a:ln w="31750">
            <a:solidFill>
              <a:srgbClr val="0FF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Архитектура: факты — из backend, слова — от Gemini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737360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9DB4C8"/>
                </a:solidFill>
                <a:latin typeface="IBM Plex Mono"/>
              </a:rPr>
              <a:t>Интерфейс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2" y="1965960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35808" y="1920240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React + Leaflet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4890" y="1965960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877458" y="1920240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87186" y="1920240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карта / список / 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6268" y="1965960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828836" y="1920240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38564" y="1920240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RU / KK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6192" y="2521915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645920" y="2521915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45920" y="2430475"/>
            <a:ext cx="0" cy="20116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7512" y="2814523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2768803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2768803"/>
            <a:ext cx="1737360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9DB4C8"/>
                </a:solidFill>
                <a:latin typeface="IBM Plex Mono"/>
              </a:rP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53512" y="2814523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926080" y="2768803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035808" y="2768803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FastAPI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04890" y="2814523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877458" y="2768803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4DFFB2"/>
          </a:solidFill>
          <a:ln w="12700">
            <a:solidFill>
              <a:srgbClr val="0FF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87186" y="2768803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000000"/>
                </a:solidFill>
                <a:latin typeface="Inter"/>
              </a:rPr>
              <a:t>RAG-оркестратор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56268" y="2814523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828836" y="2768803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938564" y="2768803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разбор запроса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36192" y="3370478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645920" y="3370478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45920" y="3279038"/>
            <a:ext cx="0" cy="20116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7512" y="3663086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40080" y="3617366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617366"/>
            <a:ext cx="1737360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9DB4C8"/>
                </a:solidFill>
                <a:latin typeface="IBM Plex Mono"/>
              </a:rPr>
              <a:t>Знания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53512" y="3663086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926080" y="3617366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035808" y="3617366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7 431 POI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04890" y="3663086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877458" y="3617366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987186" y="3617366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признаки отзывов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56268" y="3663086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8828836" y="3617366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938564" y="3617366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афиша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36192" y="4219041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645920" y="4219041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645920" y="4127601"/>
            <a:ext cx="0" cy="20116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67512" y="4511649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640080" y="4465929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77240" y="4465929"/>
            <a:ext cx="1737360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9DB4C8"/>
                </a:solidFill>
                <a:latin typeface="IBM Plex Mono"/>
              </a:rPr>
              <a:t>Гео и контекст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53512" y="4511649"/>
            <a:ext cx="4198467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2926080" y="4465929"/>
            <a:ext cx="4198467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035808" y="4465929"/>
            <a:ext cx="3979011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граф OSM + Dijkstra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80579" y="4511649"/>
            <a:ext cx="4198467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7353147" y="4465929"/>
            <a:ext cx="4198467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462875" y="4465929"/>
            <a:ext cx="3979011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Open-Meteo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536192" y="5067604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645920" y="5067604"/>
            <a:ext cx="109728" cy="10972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645920" y="4976164"/>
            <a:ext cx="0" cy="201168"/>
          </a:xfrm>
          <a:prstGeom prst="line">
            <a:avLst/>
          </a:prstGeom>
          <a:ln w="19050">
            <a:solidFill>
              <a:srgbClr val="9D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67512" y="5360212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640080" y="5314492"/>
            <a:ext cx="2011680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77240" y="5314492"/>
            <a:ext cx="1737360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9DB4C8"/>
                </a:solidFill>
                <a:latin typeface="IBM Plex Mono"/>
              </a:rPr>
              <a:t>LLM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953512" y="5360212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2926080" y="5314492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035808" y="5314492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Gemini Flash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04890" y="5360212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5877458" y="5314492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987186" y="5314492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JSON-схема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56268" y="5360212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8828836" y="5314492"/>
            <a:ext cx="2722778" cy="537667"/>
          </a:xfrm>
          <a:prstGeom prst="roundRect">
            <a:avLst>
              <a:gd name="adj" fmla="val 30612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938564" y="5314492"/>
            <a:ext cx="2503322" cy="53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офлайн-шаблон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RAG за 6 шагов: модель выбирает только из найденного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301752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1256233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Разбор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47568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старт, время, места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70633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62657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362657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572969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72969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4681" y="301752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527249" y="297180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636977" y="2971800"/>
            <a:ext cx="1256233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Поиск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7249" y="4434840"/>
            <a:ext cx="147568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TF-IDF + отзывы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7802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49826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49826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60138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60138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1850" y="301752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414418" y="297180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24146" y="2971800"/>
            <a:ext cx="1256233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AF6FF"/>
                </a:solidFill>
                <a:latin typeface="Inter"/>
              </a:rPr>
              <a:t>Проверки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4418" y="4434840"/>
            <a:ext cx="147568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часы и граф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4971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36995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136995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47307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47307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9019" y="301752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301587" y="297180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11315" y="2971800"/>
            <a:ext cx="1256233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Gemini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1587" y="4434840"/>
            <a:ext cx="147568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1–3 ID, «почему»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32140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24164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024164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234476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34476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16188" y="301752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8188756" y="297180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98484" y="2971800"/>
            <a:ext cx="1256233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Guard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8756" y="4434840"/>
            <a:ext cx="147568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чужой ID — отказ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19310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911333" y="3520440"/>
            <a:ext cx="109729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911333" y="3611880"/>
            <a:ext cx="109729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0121646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121646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3357" y="301752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10075925" y="2971800"/>
            <a:ext cx="1475689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185653" y="2971800"/>
            <a:ext cx="1256233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Карточки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75925" y="4434840"/>
            <a:ext cx="147568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факты из данных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7512" y="4983480"/>
            <a:ext cx="10911535" cy="822960"/>
          </a:xfrm>
          <a:prstGeom prst="roundRect">
            <a:avLst>
              <a:gd name="adj" fmla="val 20000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640080" y="4937760"/>
            <a:ext cx="10911535" cy="822960"/>
          </a:xfrm>
          <a:prstGeom prst="roundRect">
            <a:avLst>
              <a:gd name="adj" fmla="val 20000"/>
            </a:avLst>
          </a:prstGeom>
          <a:solidFill>
            <a:srgbClr val="0F2236"/>
          </a:solidFill>
          <a:ln w="12700">
            <a:solidFill>
              <a:srgbClr val="0FF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AF6FF"/>
                </a:solidFill>
                <a:latin typeface="Inter"/>
              </a:rPr>
              <a:t>Без ключа или квоты — ответ из данных.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Отзывы → признаки: Gemini читает, но мы верим только цитате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301752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1633667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Сбор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8531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185 930 отзывов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48067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0091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40091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50403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50403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2115" y="301752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904683" y="297180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14411" y="2971800"/>
            <a:ext cx="1633667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Фильтр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683" y="4434840"/>
            <a:ext cx="18531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regex → 10 602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12670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04694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004694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215006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15006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6718" y="301752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169286" y="297180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279014" y="2971800"/>
            <a:ext cx="1633667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9286" y="4434840"/>
            <a:ext cx="18531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за / против + цитата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77273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269297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69297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479609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79609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61321" y="301752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433889" y="297180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43617" y="2971800"/>
            <a:ext cx="1633667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Проверка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3889" y="4434840"/>
            <a:ext cx="18531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нет цитаты — отказ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41876" y="3611880"/>
            <a:ext cx="301752" cy="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33900" y="352044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533900" y="3611880"/>
            <a:ext cx="109728" cy="91440"/>
          </a:xfrm>
          <a:prstGeom prst="line">
            <a:avLst/>
          </a:prstGeom>
          <a:ln w="25400">
            <a:solidFill>
              <a:srgbClr val="0FF5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44212" y="2331720"/>
            <a:ext cx="457200" cy="45720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744212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25924" y="301752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9698492" y="2971800"/>
            <a:ext cx="1853123" cy="1280160"/>
          </a:xfrm>
          <a:prstGeom prst="roundRect">
            <a:avLst>
              <a:gd name="adj" fmla="val 12857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08220" y="2971800"/>
            <a:ext cx="1633667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6FF"/>
                </a:solidFill>
                <a:latin typeface="Inter"/>
              </a:rPr>
              <a:t>Признаки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8492" y="4434840"/>
            <a:ext cx="18531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2 100 мест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" y="4983480"/>
            <a:ext cx="10911535" cy="822960"/>
          </a:xfrm>
          <a:prstGeom prst="roundRect">
            <a:avLst>
              <a:gd name="adj" fmla="val 20000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640080" y="4937760"/>
            <a:ext cx="10911535" cy="822960"/>
          </a:xfrm>
          <a:prstGeom prst="roundRect">
            <a:avLst>
              <a:gd name="adj" fmla="val 20000"/>
            </a:avLst>
          </a:prstGeom>
          <a:solidFill>
            <a:srgbClr val="0F2236"/>
          </a:solidFill>
          <a:ln w="12700">
            <a:solidFill>
              <a:srgbClr val="0FF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AF6FF"/>
                </a:solidFill>
                <a:latin typeface="Inter"/>
              </a:rPr>
              <a:t>Статусы: подтверждено, одно упоминание, смешанно, против.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Датасет собран и обновляется скриптами, не руками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5355183" cy="3931920"/>
          </a:xfrm>
          <a:prstGeom prst="roundRect">
            <a:avLst>
              <a:gd name="adj" fmla="val 4186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55183" cy="3931920"/>
          </a:xfrm>
          <a:prstGeom prst="roundRect">
            <a:avLst>
              <a:gd name="adj" fmla="val 4186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97983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F5DA"/>
                </a:solidFill>
                <a:latin typeface="Manrope"/>
              </a:rPr>
              <a:t>7 431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82796"/>
            <a:ext cx="4897983" cy="865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мест после слияния дублей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6456"/>
            <a:ext cx="489798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DB4C8"/>
                </a:solidFill>
                <a:latin typeface="Inter"/>
              </a:rPr>
              <a:t>7 570 записей: 2ГИС 4 500, OSM 2 941, Visit Astana 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965960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96431" y="1920240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25031" y="2103120"/>
            <a:ext cx="2119807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F5DA"/>
                </a:solidFill>
                <a:latin typeface="Manrope"/>
              </a:rPr>
              <a:t>185 930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31" y="2946196"/>
            <a:ext cx="2119807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6FF"/>
                </a:solidFill>
                <a:latin typeface="Inter"/>
              </a:rPr>
              <a:t>отзывов 2ГИС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1" y="3393887"/>
            <a:ext cx="2119807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DB4C8"/>
                </a:solidFill>
                <a:latin typeface="Inter"/>
              </a:rPr>
              <a:t>без данных авторов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2039" y="1965960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974607" y="1920240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03207" y="2103120"/>
            <a:ext cx="2119807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F5DA"/>
                </a:solidFill>
                <a:latin typeface="Manrope"/>
              </a:rPr>
              <a:t>166 683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3207" y="2946196"/>
            <a:ext cx="2119807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AF6FF"/>
                </a:solidFill>
                <a:latin typeface="Inter"/>
              </a:rPr>
              <a:t>узла пешеходного графа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3393887"/>
            <a:ext cx="2119807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DB4C8"/>
                </a:solidFill>
                <a:latin typeface="Inter"/>
              </a:rPr>
              <a:t>391 338 рёбер OSM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4032504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196431" y="3986784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031" y="4169664"/>
            <a:ext cx="2119807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F5DA"/>
                </a:solidFill>
                <a:latin typeface="Manrope"/>
              </a:rPr>
              <a:t>2 100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5012740"/>
            <a:ext cx="2119807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AF6FF"/>
                </a:solidFill>
                <a:latin typeface="Inter"/>
              </a:rPr>
              <a:t>мест с признаками из отзывов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5460431"/>
            <a:ext cx="2119807" cy="373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DB4C8"/>
                </a:solidFill>
                <a:latin typeface="Inter"/>
              </a:rPr>
              <a:t>тишина, розетки, дети, Wi-Fi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2039" y="4032504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974607" y="3986784"/>
            <a:ext cx="2577007" cy="1865376"/>
          </a:xfrm>
          <a:prstGeom prst="roundRect">
            <a:avLst>
              <a:gd name="adj" fmla="val 882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03207" y="4169664"/>
            <a:ext cx="211980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Manrope"/>
              </a:rPr>
              <a:t>Автоматизация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3207" y="4992624"/>
            <a:ext cx="2119807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Сбор и Gemini-извлечение — одной командой Docker.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Честность и приватность встроены в каждую карточку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EAF6FF"/>
                </a:solidFill>
                <a:latin typeface="Manrope"/>
              </a:rPr>
              <a:t>Приватность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71016" y="288036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Нет аккаунтов и истории координат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19" y="376243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71016" y="366649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Геолокация только по кнопке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19" y="45485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71016" y="445262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В Gemini не уходят координаты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1370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383938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2538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2538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5458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AF6FF"/>
                </a:solidFill>
                <a:latin typeface="Manrope"/>
              </a:rPr>
              <a:t>Честная маркировка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3978" y="2960433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14874" y="2880360"/>
            <a:ext cx="2472842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EAF6FF"/>
                </a:solidFill>
                <a:latin typeface="Inter"/>
              </a:rPr>
              <a:t>«Открыто по расписанию», не «открыто сейчас»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3978" y="395293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14874" y="3872865"/>
            <a:ext cx="2472842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EAF6FF"/>
                </a:solidFill>
                <a:latin typeface="Inter"/>
              </a:rPr>
              <a:t>Метка «Текст: Gemini» или «Из данных»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3978" y="46755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14874" y="4595495"/>
            <a:ext cx="2472842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EAF6FF"/>
                </a:solidFill>
                <a:latin typeface="Inter"/>
              </a:rPr>
              <a:t>Неизвестное = неизвестно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5228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127796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356396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56396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9316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Manrope"/>
              </a:rPr>
              <a:t>Сомнительные данные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7836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58732" y="288036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185 отметок о закрытии из 2ГИС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7836" y="376243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758732" y="366649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Одно упоминание ≠ подтверждено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47836" y="45485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758732" y="4452620"/>
            <a:ext cx="247284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Анонсы: «проведение не подтверждено»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Сценарии из ТЗ проходят на текущей версии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956816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96112" y="2048256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978408" y="2277770"/>
            <a:ext cx="70408" cy="90526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48816" y="2167128"/>
            <a:ext cx="130760" cy="20116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63040" y="1956816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MEGA, 30–60 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710" y="1956816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маршрут 3 места, 59 из 60 мин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70048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96112" y="276148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978408" y="2991002"/>
            <a:ext cx="70408" cy="90526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48816" y="2880360"/>
            <a:ext cx="130760" cy="20116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63040" y="2670048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Тихое кафе с розеткой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710" y="2670048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3 кафе в 7–15 мин, отзывы 2ГИС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96112" y="3474720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978408" y="3704234"/>
            <a:ext cx="70408" cy="90526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48816" y="3593592"/>
            <a:ext cx="130760" cy="20116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63040" y="3383280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С ребёнком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710" y="3383280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музей + детский центр в 8–11 мин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96511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96112" y="4187951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978408" y="4417466"/>
            <a:ext cx="70408" cy="90525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48816" y="4306823"/>
            <a:ext cx="130760" cy="20116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63040" y="4096511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2 часа до вылета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710" y="4096511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резервы 30 + 60, прогулка 30 мин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1956816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534759" y="2048256"/>
            <a:ext cx="365760" cy="365760"/>
          </a:xfrm>
          <a:prstGeom prst="ellipse">
            <a:avLst/>
          </a:prstGeom>
          <a:noFill/>
          <a:ln w="31750">
            <a:solidFill>
              <a:srgbClr val="FF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644487" y="2157984"/>
            <a:ext cx="146304" cy="146304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01687" y="1956816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Ночная активность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357" y="1956816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бары и клубы; «необычное» слабо влияет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2670048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534759" y="276148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6617055" y="2991002"/>
            <a:ext cx="70409" cy="90526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87464" y="2880360"/>
            <a:ext cx="130759" cy="20116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01687" y="2670048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Экспо 2017, 1–2 часа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9357" y="2670048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старт из текста, 3–19 мин пешком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8727" y="3383280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534759" y="3474720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6617055" y="3704234"/>
            <a:ext cx="70409" cy="90526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87464" y="3593592"/>
            <a:ext cx="130759" cy="20116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01687" y="3383280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Компания из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9357" y="3383280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VIP-залы, бюджет на 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78727" y="4096511"/>
            <a:ext cx="5272887" cy="621792"/>
          </a:xfrm>
          <a:prstGeom prst="roundRect">
            <a:avLst>
              <a:gd name="adj" fmla="val 11764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534759" y="4187951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7" name="Connector 46"/>
          <p:cNvCxnSpPr/>
          <p:nvPr/>
        </p:nvCxnSpPr>
        <p:spPr>
          <a:xfrm>
            <a:off x="6617055" y="4417466"/>
            <a:ext cx="70409" cy="90525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87464" y="4306823"/>
            <a:ext cx="130759" cy="20116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01687" y="4096511"/>
            <a:ext cx="244623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6FF"/>
                </a:solidFill>
                <a:latin typeface="Inter"/>
              </a:rPr>
              <a:t>Автотесты backend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39357" y="4096511"/>
            <a:ext cx="168365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DB4C8"/>
                </a:solidFill>
                <a:latin typeface="Inter"/>
              </a:rPr>
              <a:t>66 passed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Ценность для трёх сторон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EAF6FF"/>
                </a:solidFill>
                <a:latin typeface="Manrope"/>
              </a:rPr>
              <a:t>Жителю и туристу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71016" y="288036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Ответ за один запрос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19" y="376243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71016" y="366649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Маршрут в бюджете времени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19" y="45485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71016" y="445262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Честно: что известно, что 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1370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383938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2538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2538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5458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AF6FF"/>
                </a:solidFill>
                <a:latin typeface="Manrope"/>
              </a:rPr>
              <a:t>Городу (Smart City)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3978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14874" y="288036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Канал для мест и событий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3978" y="376243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14874" y="366649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Обезличенный спрос по районам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3978" y="45485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14874" y="4452620"/>
            <a:ext cx="2472842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RU / KK из коробки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5228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127796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356396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56396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9316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EAF6FF"/>
                </a:solidFill>
                <a:latin typeface="Manrope"/>
              </a:rPr>
              <a:t>Бизнесу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7836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58732" y="288036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Гости, которые уже рядом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7836" y="376243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758732" y="3666490"/>
            <a:ext cx="247284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Карточка с актуальными часами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47836" y="4850193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758732" y="4754245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Связка с афишей и билетами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Бизнес-модель: город, партнёры, билеты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7512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EAF6FF"/>
                </a:solidFill>
                <a:latin typeface="Manrope"/>
              </a:rPr>
              <a:t>B2G: город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71016" y="288036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Пилот с порталом города и Visit Astana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19" y="376243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71016" y="3666490"/>
            <a:ext cx="247284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Киоски и QR в туристических точках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1370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383938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612538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12538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5458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EAF6FF"/>
                </a:solidFill>
                <a:latin typeface="Manrope"/>
              </a:rPr>
              <a:t>B2B: партнёры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3978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14874" y="2880360"/>
            <a:ext cx="247284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Виджет и API для отелей, аэропорта, ТРЦ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3978" y="4064063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14874" y="3968115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Подписка заведения на актуальные часы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5228" y="196596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127796" y="1920240"/>
            <a:ext cx="3423818" cy="3931920"/>
          </a:xfrm>
          <a:prstGeom prst="roundRect">
            <a:avLst>
              <a:gd name="adj" fmla="val 480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356396" y="2167128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56396" y="2167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0000"/>
                </a:solidFill>
                <a:latin typeface="Manrop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9316" y="214884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EAF6FF"/>
                </a:solidFill>
                <a:latin typeface="Manrope"/>
              </a:rPr>
              <a:t>Билеты и события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7836" y="29763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58732" y="2880360"/>
            <a:ext cx="2472842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Партнёрская комиссия с билетных операторов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47836" y="436568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58732" y="4269740"/>
            <a:ext cx="2472842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Платное не влияет на ранжирование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Риски и ограничения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11535" cy="384048"/>
          </a:xfrm>
          <a:prstGeom prst="rect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Inter"/>
              </a:rP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92024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Inter"/>
              </a:rPr>
              <a:t>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Inter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Inter"/>
              </a:rPr>
              <a:t>MITIGATION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10911535" cy="676656"/>
          </a:xfrm>
          <a:prstGeom prst="rect">
            <a:avLst/>
          </a:prstGeom>
          <a:solidFill>
            <a:srgbClr val="0F223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Данные стареют: часы, закрытия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146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5146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59151"/>
            <a:ext cx="3642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DB4C8"/>
                </a:solidFill>
                <a:latin typeface="Inter"/>
              </a:rPr>
              <a:t>Метка «по расписанию», регулярный пересбор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08376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Gemini недоступен, квота, блок сети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19125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3440" y="319125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MEDIUM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9125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09360" y="319125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35808"/>
            <a:ext cx="3642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DB4C8"/>
                </a:solidFill>
                <a:latin typeface="Inter"/>
              </a:rPr>
              <a:t>Офлайн-ответ из данных, платный тариф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85031"/>
            <a:ext cx="10911535" cy="676656"/>
          </a:xfrm>
          <a:prstGeom prst="rect">
            <a:avLst/>
          </a:prstGeom>
          <a:solidFill>
            <a:srgbClr val="0F223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685031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Права на отзывы и фото 2ГИС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86791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63440" y="3867911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6791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09360" y="3867911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712463"/>
            <a:ext cx="3642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DB4C8"/>
                </a:solidFill>
                <a:latin typeface="Inter"/>
              </a:rPr>
              <a:t>Цитаты до 200 символов, договор или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361688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Нет размеченной оценки релевантности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5445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63440" y="454456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HIGH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5445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09360" y="454456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89120"/>
            <a:ext cx="3642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DB4C8"/>
                </a:solidFill>
                <a:latin typeface="Inter"/>
              </a:rPr>
              <a:t>Разметить 200 запросов, считать nDCG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038344"/>
            <a:ext cx="10911535" cy="676656"/>
          </a:xfrm>
          <a:prstGeom prst="rect">
            <a:avLst/>
          </a:prstGeom>
          <a:solidFill>
            <a:srgbClr val="0F223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038344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Доступность и безопасность пути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52212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63440" y="5221224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MEDIUM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522122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09360" y="5221224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Inter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065776"/>
            <a:ext cx="364205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DB4C8"/>
                </a:solidFill>
                <a:latin typeface="Inter"/>
              </a:rPr>
              <a:t>«Без лестниц» не обещает доступность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План развития: от прототипа к городскому пилоту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2990088"/>
            <a:ext cx="10911535" cy="54864"/>
          </a:xfrm>
          <a:prstGeom prst="rect">
            <a:avLst/>
          </a:prstGeom>
          <a:solidFill>
            <a:srgbClr val="364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821141" y="2834639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1141" y="28346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27278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FF5DA"/>
                </a:solidFill>
                <a:latin typeface="IBM Plex Mono"/>
              </a:rPr>
              <a:t>Сейчас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" y="3520439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54380" y="3474720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F2236"/>
          </a:solidFill>
          <a:ln w="12700">
            <a:solidFill>
              <a:srgbClr val="4DF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1540" y="3657600"/>
            <a:ext cx="22249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AF6FF"/>
                </a:solidFill>
                <a:latin typeface="Inter"/>
              </a:rPr>
              <a:t>Прототип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" y="4343400"/>
            <a:ext cx="21335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Docker, 7 431 место, Gemini + офлайн</a:t>
            </a:r>
          </a:p>
        </p:txBody>
      </p:sp>
      <p:sp>
        <p:nvSpPr>
          <p:cNvPr id="12" name="Oval 11"/>
          <p:cNvSpPr/>
          <p:nvPr/>
        </p:nvSpPr>
        <p:spPr>
          <a:xfrm>
            <a:off x="4549025" y="2834639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49025" y="28346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2148839"/>
            <a:ext cx="27278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FF5DA"/>
                </a:solidFill>
                <a:latin typeface="IBM Plex Mono"/>
              </a:rPr>
              <a:t>1 месяц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9695" y="3520439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482263" y="3474720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9423" y="3657600"/>
            <a:ext cx="22249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AF6FF"/>
                </a:solidFill>
                <a:latin typeface="Inter"/>
              </a:rPr>
              <a:t>Качество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5143" y="4343400"/>
            <a:ext cx="21335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200 размеченных запросов, автообновление</a:t>
            </a:r>
          </a:p>
        </p:txBody>
      </p:sp>
      <p:sp>
        <p:nvSpPr>
          <p:cNvPr id="19" name="Oval 18"/>
          <p:cNvSpPr/>
          <p:nvPr/>
        </p:nvSpPr>
        <p:spPr>
          <a:xfrm>
            <a:off x="7276909" y="2834639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76909" y="28346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2148839"/>
            <a:ext cx="27278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FF5DA"/>
                </a:solidFill>
                <a:latin typeface="IBM Plex Mono"/>
              </a:rPr>
              <a:t>3 месяца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7579" y="3520439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210147" y="3474720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47307" y="3657600"/>
            <a:ext cx="22249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AF6FF"/>
                </a:solidFill>
                <a:latin typeface="Inter"/>
              </a:rPr>
              <a:t>Пилот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027" y="4343400"/>
            <a:ext cx="21335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портал города, Visit Astana, QR</a:t>
            </a:r>
          </a:p>
        </p:txBody>
      </p:sp>
      <p:sp>
        <p:nvSpPr>
          <p:cNvPr id="26" name="Oval 25"/>
          <p:cNvSpPr/>
          <p:nvPr/>
        </p:nvSpPr>
        <p:spPr>
          <a:xfrm>
            <a:off x="10004793" y="2834639"/>
            <a:ext cx="365760" cy="365760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004793" y="28346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Manrope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731" y="2148839"/>
            <a:ext cx="27278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FF5DA"/>
                </a:solidFill>
                <a:latin typeface="IBM Plex Mono"/>
              </a:rPr>
              <a:t>6 месяцев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5463" y="3520439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938031" y="3474720"/>
            <a:ext cx="2499283" cy="1920240"/>
          </a:xfrm>
          <a:prstGeom prst="roundRect">
            <a:avLst>
              <a:gd name="adj" fmla="val 8571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75191" y="3657600"/>
            <a:ext cx="22249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AF6FF"/>
                </a:solidFill>
                <a:latin typeface="Inter"/>
              </a:rPr>
              <a:t>Город целиком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0911" y="4343400"/>
            <a:ext cx="21335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nter"/>
              </a:rPr>
              <a:t>транспорт, входы, доступность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Всё запускается одной командой — проверьте сами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DB4C8"/>
                </a:solidFill>
                <a:latin typeface="Inter"/>
              </a:rPr>
              <a:t>Запуск одной командой: docker compose up -d --build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10911535" cy="868680"/>
          </a:xfrm>
          <a:prstGeom prst="roundRect">
            <a:avLst>
              <a:gd name="adj" fmla="val 1894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2286000" cy="868680"/>
          </a:xfrm>
          <a:prstGeom prst="rect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0000"/>
                </a:solidFill>
                <a:latin typeface="Inter"/>
              </a:rPr>
              <a:t>КОД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56080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F6FF"/>
                </a:solidFill>
                <a:latin typeface="IBM Plex Mono"/>
              </a:rPr>
              <a:t>github.com/ProstoiProger/Smart-City-hackathon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265176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DB4C8"/>
                </a:solidFill>
                <a:latin typeface="Inter"/>
              </a:rPr>
              <a:t>README, API,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48456"/>
            <a:ext cx="10911535" cy="868680"/>
          </a:xfrm>
          <a:prstGeom prst="roundRect">
            <a:avLst>
              <a:gd name="adj" fmla="val 1894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3648456"/>
            <a:ext cx="2286000" cy="868680"/>
          </a:xfrm>
          <a:prstGeom prst="rect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3648456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0000"/>
                </a:solidFill>
                <a:latin typeface="Inter"/>
              </a:rPr>
              <a:t>СЦЕНАРИИ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48456"/>
            <a:ext cx="56080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6FF"/>
                </a:solidFill>
                <a:latin typeface="IBM Plex Mono"/>
              </a:rPr>
              <a:t>TEST_SCENARIOS.md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9855" y="3648456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DB4C8"/>
                </a:solidFill>
                <a:latin typeface="Inter"/>
              </a:rPr>
              <a:t>14 сценариев и ограничения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45152"/>
            <a:ext cx="10911535" cy="868680"/>
          </a:xfrm>
          <a:prstGeom prst="roundRect">
            <a:avLst>
              <a:gd name="adj" fmla="val 18947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4645152"/>
            <a:ext cx="2286000" cy="868680"/>
          </a:xfrm>
          <a:prstGeom prst="rect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4645152"/>
            <a:ext cx="1920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0000"/>
                </a:solidFill>
                <a:latin typeface="Inter"/>
              </a:rPr>
              <a:t>ЛОКАЛЬНО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645152"/>
            <a:ext cx="56080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6FF"/>
                </a:solidFill>
                <a:latin typeface="IBM Plex Mono"/>
              </a:rPr>
              <a:t>localhost, порт из README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9855" y="4645152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DB4C8"/>
                </a:solidFill>
                <a:latin typeface="Inter"/>
              </a:rPr>
              <a:t>карта, чат, Swagger /docs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31720"/>
            <a:ext cx="914400" cy="73152"/>
          </a:xfrm>
          <a:prstGeom prst="rect">
            <a:avLst/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82335" y="640080"/>
            <a:ext cx="5669280" cy="5120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3000" b="1">
                <a:solidFill>
                  <a:srgbClr val="23715A"/>
                </a:solidFill>
                <a:latin typeface="Manrop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EAF6FF"/>
                </a:solidFill>
                <a:latin typeface="Manrope"/>
              </a:rPr>
              <a:t>Приложение: ответы на вопросы жюри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Один запрос изнутри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11535" cy="3291840"/>
          </a:xfrm>
          <a:prstGeom prst="roundRect">
            <a:avLst>
              <a:gd name="adj" fmla="val 3333"/>
            </a:avLst>
          </a:prstGeom>
          <a:solidFill>
            <a:srgbClr val="040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11535" cy="411480"/>
          </a:xfrm>
          <a:prstGeom prst="rect">
            <a:avLst/>
          </a:prstGeom>
          <a:solidFill>
            <a:srgbClr val="2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59" y="2048256"/>
            <a:ext cx="155448" cy="155448"/>
          </a:xfrm>
          <a:prstGeom prst="ellipse">
            <a:avLst/>
          </a:prstGeom>
          <a:solidFill>
            <a:srgbClr val="F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78992" y="2048256"/>
            <a:ext cx="155448" cy="155448"/>
          </a:xfrm>
          <a:prstGeom prst="ellipse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335024" y="2048256"/>
            <a:ext cx="155448" cy="155448"/>
          </a:xfrm>
          <a:prstGeom prst="ellipse">
            <a:avLst/>
          </a:prstGeom>
          <a:solidFill>
            <a:srgbClr val="4DF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871697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IBM Plex Mono"/>
              </a:rPr>
              <a:t>POST /api/chat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65760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F5DA"/>
                </a:solidFill>
                <a:latin typeface="IBM Plex Mono"/>
              </a:rP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240" y="2514600"/>
            <a:ext cx="999713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FFFF"/>
                </a:solidFill>
                <a:latin typeface="IBM Plex Mono"/>
              </a:rPr>
              <a:t>«Я у Экспо 2017, хочу необычное на 1–2 часа»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09239"/>
            <a:ext cx="1036289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BM Plex Mono"/>
              </a:rPr>
              <a:t># разбор: старт EXPO 2017, бюджет 120 мин, культура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3879"/>
            <a:ext cx="1036289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BM Plex Mono"/>
              </a:rPr>
              <a:t># поиск: TF-IDF + признаки отзывов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98519"/>
            <a:ext cx="1036289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BM Plex Mono"/>
              </a:rPr>
              <a:t># проверки: часы, закрытия, граф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93159"/>
            <a:ext cx="1036289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DB4C8"/>
                </a:solidFill>
                <a:latin typeface="IBM Plex Mono"/>
              </a:rPr>
              <a:t># Gemini: до 9 кандидатов, JSON-схема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87799"/>
            <a:ext cx="1036289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DFFB2"/>
                </a:solidFill>
                <a:latin typeface="IBM Plex Mono"/>
              </a:rPr>
              <a:t>OK выбраны ID из контекста + why / what_to_do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82439"/>
            <a:ext cx="1036289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7A7A"/>
                </a:solidFill>
                <a:latin typeface="IBM Plex Mono"/>
              </a:rPr>
              <a:t>ERROR чужой ID → отказ, локальный выбор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7079"/>
            <a:ext cx="10362895" cy="294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DFFB2"/>
                </a:solidFill>
                <a:latin typeface="IBM Plex Mono"/>
              </a:rPr>
              <a:t>OK цены, часы, минуты пишет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930647"/>
            <a:ext cx="111760" cy="191516"/>
          </a:xfrm>
          <a:prstGeom prst="rect">
            <a:avLst/>
          </a:prstGeom>
          <a:solidFill>
            <a:srgbClr val="0FF5D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DB4C8"/>
                </a:solidFill>
                <a:latin typeface="Inter"/>
              </a:rPr>
              <a:t>Модель получает только найденные места и их факты.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Технологии: просто и воспроизводимо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F5DA"/>
                </a:solidFill>
                <a:latin typeface="IBM Plex Mono"/>
              </a:rPr>
              <a:t>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53512" y="2039112"/>
            <a:ext cx="1981962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926080" y="1993392"/>
            <a:ext cx="1981962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926080" y="1993392"/>
            <a:ext cx="198196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Gemini Flash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8354" y="2039112"/>
            <a:ext cx="1137285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90922" y="1993392"/>
            <a:ext cx="1137285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90922" y="1993392"/>
            <a:ext cx="113728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8519" y="2039112"/>
            <a:ext cx="2412873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11087" y="1993392"/>
            <a:ext cx="2412873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11087" y="1993392"/>
            <a:ext cx="241287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structured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F5DA"/>
                </a:solidFill>
                <a:latin typeface="IBM Plex Mono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2862072"/>
            <a:ext cx="1341882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926080" y="2816352"/>
            <a:ext cx="1341882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926080" y="2816352"/>
            <a:ext cx="134188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8274" y="2862072"/>
            <a:ext cx="1410462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450842" y="2816352"/>
            <a:ext cx="1410462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50842" y="2816352"/>
            <a:ext cx="141046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2862072"/>
            <a:ext cx="2633472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44183" y="2816352"/>
            <a:ext cx="2633472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183" y="2816352"/>
            <a:ext cx="263347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scikit-learn TF-IDF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F5DA"/>
                </a:solidFill>
                <a:latin typeface="IBM Plex Mono"/>
              </a:rPr>
              <a:t>ГЕО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3512" y="3685032"/>
            <a:ext cx="1085850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926080" y="3639312"/>
            <a:ext cx="1085850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926080" y="3639312"/>
            <a:ext cx="108585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OSM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2242" y="3685032"/>
            <a:ext cx="1405890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194810" y="3639312"/>
            <a:ext cx="1405890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94810" y="3639312"/>
            <a:ext cx="140589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Dijkstra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11012" y="3685032"/>
            <a:ext cx="1965960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783580" y="3639312"/>
            <a:ext cx="1965960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783580" y="3639312"/>
            <a:ext cx="1965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Open-Meteo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3891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F5DA"/>
                </a:solidFill>
                <a:latin typeface="IBM Plex Mono"/>
              </a:rPr>
              <a:t>FRONTEND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53512" y="4507992"/>
            <a:ext cx="1187577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926080" y="4462272"/>
            <a:ext cx="1187577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2926080" y="4462272"/>
            <a:ext cx="118757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React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3969" y="4507992"/>
            <a:ext cx="1784223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4296537" y="4462272"/>
            <a:ext cx="1784223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296537" y="4462272"/>
            <a:ext cx="178422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TypeScript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1072" y="4507992"/>
            <a:ext cx="1321308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263640" y="4462272"/>
            <a:ext cx="1321308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63640" y="4462272"/>
            <a:ext cx="132130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Leaflet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2120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F5DA"/>
                </a:solidFill>
                <a:latin typeface="IBM Plex Mono"/>
              </a:rPr>
              <a:t>КАЧЕСТВО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53512" y="5330952"/>
            <a:ext cx="1260729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926080" y="5285232"/>
            <a:ext cx="1260729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926080" y="5285232"/>
            <a:ext cx="12607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pytest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97121" y="5330952"/>
            <a:ext cx="1748790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4369689" y="5285232"/>
            <a:ext cx="1748790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369689" y="5285232"/>
            <a:ext cx="174879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Playwright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8791" y="5330952"/>
            <a:ext cx="1351026" cy="493776"/>
          </a:xfrm>
          <a:prstGeom prst="roundRect">
            <a:avLst>
              <a:gd name="adj" fmla="val 33333"/>
            </a:avLst>
          </a:prstGeom>
          <a:solidFill>
            <a:srgbClr val="040A1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6301359" y="5285232"/>
            <a:ext cx="1351026" cy="493776"/>
          </a:xfrm>
          <a:prstGeom prst="roundRect">
            <a:avLst>
              <a:gd name="adj" fmla="val 33333"/>
            </a:avLst>
          </a:prstGeom>
          <a:solidFill>
            <a:srgbClr val="0F2236"/>
          </a:solidFill>
          <a:ln w="12700">
            <a:solidFill>
              <a:srgbClr val="364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01359" y="5285232"/>
            <a:ext cx="135102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AF6FF"/>
                </a:solidFill>
                <a:latin typeface="Inter"/>
              </a:rPr>
              <a:t>Docker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EAF6FF"/>
                </a:solidFill>
                <a:latin typeface="Manrope"/>
              </a:rPr>
              <a:t>Покрытие данных: где честно пусто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9344"/>
            <a:ext cx="822960" cy="54864"/>
          </a:xfrm>
          <a:prstGeom prst="roundRect">
            <a:avLst>
              <a:gd name="adj" fmla="val 50000"/>
            </a:avLst>
          </a:prstGeom>
          <a:solidFill>
            <a:srgbClr val="0FF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11535" cy="566928"/>
          </a:xfrm>
          <a:prstGeom prst="rect">
            <a:avLst/>
          </a:prstGeom>
          <a:solidFill>
            <a:srgbClr val="0F223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F5DA"/>
                </a:solidFill>
                <a:latin typeface="Inter"/>
              </a:rPr>
              <a:t>ЧАСЫ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920240"/>
            <a:ext cx="74368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5 080 записей (~67%), не проверены на месте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8716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F5DA"/>
                </a:solidFill>
                <a:latin typeface="Inter"/>
              </a:rPr>
              <a:t>ЦЕНА ИЛИ СРЕДНИЙ ЧЕК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487168"/>
            <a:ext cx="74368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2 610 канонических записей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54096"/>
            <a:ext cx="10911535" cy="566928"/>
          </a:xfrm>
          <a:prstGeom prst="rect">
            <a:avLst/>
          </a:prstGeom>
          <a:solidFill>
            <a:srgbClr val="0F223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59" y="3054096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F5DA"/>
                </a:solidFill>
                <a:latin typeface="Inter"/>
              </a:rPr>
              <a:t>РОЗЕТКИ В ПОЛЯХ ИСТОЧНИКА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54096"/>
            <a:ext cx="74368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2 записи, остальное из отзывов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21024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F5DA"/>
                </a:solidFill>
                <a:latin typeface="Inter"/>
              </a:rPr>
              <a:t>СОБЫТИЯ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21024"/>
            <a:ext cx="74368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103 записи афиши, не подтверждены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87952"/>
            <a:ext cx="10911535" cy="566928"/>
          </a:xfrm>
          <a:prstGeom prst="rect">
            <a:avLst/>
          </a:prstGeom>
          <a:solidFill>
            <a:srgbClr val="0F223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18795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F5DA"/>
                </a:solidFill>
                <a:latin typeface="Inter"/>
              </a:rPr>
              <a:t>ДАННЫЕ СОБРАНЫ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187952"/>
            <a:ext cx="74368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AF6FF"/>
                </a:solidFill>
                <a:latin typeface="Inter"/>
              </a:rPr>
              <a:t>19.10.2026, снимок для демо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Astana Walk: куда успеть за 30 минут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6437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DB4C8"/>
                </a:solidFill>
                <a:latin typeface="IBM Plex Mono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Astana Walk: куда успеть за 30 минут</dc:title>
  <dc:subject>hackathon</dc:subject>
  <dc:creator>Astana Walk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